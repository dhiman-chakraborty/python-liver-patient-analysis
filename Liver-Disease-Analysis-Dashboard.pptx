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erif" panose="020B0604020202020204" charset="0"/>
      <p:regular r:id="rId13"/>
    </p:embeddedFont>
    <p:embeddedFont>
      <p:font typeface="Inter Tight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60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F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71AE5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F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640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F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F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F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F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F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F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F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F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71AE5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4.svg"/><Relationship Id="rId4" Type="http://schemas.openxmlformats.org/officeDocument/2006/relationships/image" Target="../media/image13.pn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2148245"/>
            <a:ext cx="2187654" cy="295513"/>
          </a:xfrm>
          <a:prstGeom prst="roundRect">
            <a:avLst>
              <a:gd name="adj" fmla="val 3094"/>
            </a:avLst>
          </a:prstGeom>
          <a:solidFill>
            <a:srgbClr val="A7E56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2014" y="2220158"/>
            <a:ext cx="151567" cy="151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9304" y="2205038"/>
            <a:ext cx="1732955" cy="18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HEALTHCARE ANALYTICS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58309" y="2519482"/>
            <a:ext cx="12472273" cy="299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50"/>
              </a:lnSpc>
              <a:buNone/>
            </a:pPr>
            <a:r>
              <a:rPr lang="en-US" sz="9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Liver Disease</a:t>
            </a:r>
            <a:r>
              <a:rPr lang="en-US" sz="9800" b="1" i="1" dirty="0">
                <a:solidFill>
                  <a:srgbClr val="0640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Analysis Dashboard</a:t>
            </a:r>
            <a:endParaRPr lang="en-US" sz="9800" dirty="0"/>
          </a:p>
        </p:txBody>
      </p:sp>
      <p:sp>
        <p:nvSpPr>
          <p:cNvPr id="6" name="Text 3"/>
          <p:cNvSpPr/>
          <p:nvPr/>
        </p:nvSpPr>
        <p:spPr>
          <a:xfrm>
            <a:off x="758309" y="5797034"/>
            <a:ext cx="13113782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50" dirty="0">
                <a:solidFill>
                  <a:srgbClr val="06403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Patient Insights &amp; Biomarker Evaluation — Built with Python · Pandas · NumPy · Matplotlib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1370171"/>
            <a:ext cx="1756767" cy="295513"/>
          </a:xfrm>
          <a:prstGeom prst="roundRect">
            <a:avLst>
              <a:gd name="adj" fmla="val 3094"/>
            </a:avLst>
          </a:prstGeom>
          <a:solidFill>
            <a:srgbClr val="A7E563"/>
          </a:solidFill>
          <a:ln/>
        </p:spPr>
      </p:sp>
      <p:sp>
        <p:nvSpPr>
          <p:cNvPr id="3" name="Text 1"/>
          <p:cNvSpPr/>
          <p:nvPr/>
        </p:nvSpPr>
        <p:spPr>
          <a:xfrm>
            <a:off x="872014" y="1426964"/>
            <a:ext cx="1529358" cy="18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58309" y="1741408"/>
            <a:ext cx="8605838" cy="1032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00"/>
              </a:lnSpc>
              <a:buNone/>
            </a:pPr>
            <a:r>
              <a:rPr lang="en-US" sz="67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Key Findings at a Glance</a:t>
            </a:r>
            <a:endParaRPr lang="en-US" sz="6750" dirty="0"/>
          </a:p>
        </p:txBody>
      </p:sp>
      <p:sp>
        <p:nvSpPr>
          <p:cNvPr id="5" name="Text 3"/>
          <p:cNvSpPr/>
          <p:nvPr/>
        </p:nvSpPr>
        <p:spPr>
          <a:xfrm>
            <a:off x="758309" y="3058358"/>
            <a:ext cx="13113782" cy="852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Analysis of liver patient data reveals strong biomarker signals for early disease detection. The dataset exhibits significant class imbalance, with approximately </a:t>
            </a:r>
            <a:r>
              <a:rPr lang="en-US" sz="18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70% of patients</a:t>
            </a:r>
            <a:r>
              <a:rPr lang="en-US" sz="185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diagnosed with liver disease. Lab values show high variance, and key biomarkers provide actionable diagnostic features.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58309" y="4124563"/>
            <a:ext cx="4244816" cy="1564362"/>
          </a:xfrm>
          <a:prstGeom prst="roundRect">
            <a:avLst>
              <a:gd name="adj" fmla="val 585"/>
            </a:avLst>
          </a:prstGeom>
          <a:solidFill>
            <a:srgbClr val="F4B85A"/>
          </a:solidFill>
          <a:ln w="7620">
            <a:solidFill>
              <a:srgbClr val="DA9E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5477" y="4321731"/>
            <a:ext cx="3118009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~70% Disease Prevalence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955477" y="4809530"/>
            <a:ext cx="3850481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Majority of patients in the dataset carry a liver disease diagnosis — strong class imbalance requiring careful modeling strategy.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192673" y="4124563"/>
            <a:ext cx="4244935" cy="1564362"/>
          </a:xfrm>
          <a:prstGeom prst="roundRect">
            <a:avLst>
              <a:gd name="adj" fmla="val 585"/>
            </a:avLst>
          </a:prstGeom>
          <a:solidFill>
            <a:srgbClr val="B1BEEB"/>
          </a:solidFill>
          <a:ln w="7620">
            <a:solidFill>
              <a:srgbClr val="97A4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89840" y="4321731"/>
            <a:ext cx="3118009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High Biomarker Variance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5389840" y="4809530"/>
            <a:ext cx="3850600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Bilirubin, SGPT, SGOT, and Alkaline Phosphatase all display wide distributions with extreme outliers in diseased cohorts.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627156" y="4124563"/>
            <a:ext cx="4244816" cy="1564362"/>
          </a:xfrm>
          <a:prstGeom prst="roundRect">
            <a:avLst>
              <a:gd name="adj" fmla="val 585"/>
            </a:avLst>
          </a:prstGeom>
          <a:solidFill>
            <a:srgbClr val="D8B5EE"/>
          </a:solidFill>
          <a:ln w="7620">
            <a:solidFill>
              <a:srgbClr val="BE9B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4323" y="4321731"/>
            <a:ext cx="3118009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Early Detection Possible</a:t>
            </a:r>
            <a:endParaRPr lang="en-US" sz="2450" dirty="0"/>
          </a:p>
        </p:txBody>
      </p:sp>
      <p:sp>
        <p:nvSpPr>
          <p:cNvPr id="14" name="Text 12"/>
          <p:cNvSpPr/>
          <p:nvPr/>
        </p:nvSpPr>
        <p:spPr>
          <a:xfrm>
            <a:off x="9824323" y="4809530"/>
            <a:ext cx="3850481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Lab value patterns clearly differentiate disease vs. non-disease groups — enabling ML-driven early detection pipelines.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58309" y="5902166"/>
            <a:ext cx="13113782" cy="957143"/>
          </a:xfrm>
          <a:prstGeom prst="roundRect">
            <a:avLst>
              <a:gd name="adj" fmla="val 955"/>
            </a:avLst>
          </a:prstGeom>
          <a:solidFill>
            <a:srgbClr val="022349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57" y="6148507"/>
            <a:ext cx="236934" cy="1895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74338" y="6139101"/>
            <a:ext cx="12308205" cy="454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Key Message:</a:t>
            </a:r>
            <a:r>
              <a:rPr lang="en-US" sz="145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Data indicates a strong correlation between core biomarkers and liver disease diagnosis. Targeted feature engineering can power reliable predictive models.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03052"/>
            <a:ext cx="6018848" cy="710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650" dirty="0">
                <a:solidFill>
                  <a:srgbClr val="0640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Disease &amp; Gender Distribution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58309" y="1656159"/>
            <a:ext cx="13113782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Patient composition reveals two critical demographic patterns: a heavily skewed disease ratio and a pronounced male-dominant cohort — both requiring analytical attention before modeling.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8650" y="2270046"/>
            <a:ext cx="6596539" cy="5356503"/>
          </a:xfrm>
          <a:prstGeom prst="roundRect">
            <a:avLst>
              <a:gd name="adj" fmla="val 171"/>
            </a:avLst>
          </a:prstGeom>
          <a:solidFill>
            <a:srgbClr val="064035"/>
          </a:solidFill>
          <a:ln/>
        </p:spPr>
      </p:sp>
      <p:sp>
        <p:nvSpPr>
          <p:cNvPr id="5" name="Text 3"/>
          <p:cNvSpPr/>
          <p:nvPr/>
        </p:nvSpPr>
        <p:spPr>
          <a:xfrm>
            <a:off x="808673" y="2441138"/>
            <a:ext cx="2962156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Disease Distribution</a:t>
            </a:r>
            <a:endParaRPr lang="en-US" sz="2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73" y="2988945"/>
            <a:ext cx="5924669" cy="29470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6590" y="3435572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71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081230" y="4719733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29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808673" y="6499146"/>
            <a:ext cx="6236494" cy="881539"/>
          </a:xfrm>
          <a:prstGeom prst="roundRect">
            <a:avLst>
              <a:gd name="adj" fmla="val 1037"/>
            </a:avLst>
          </a:prstGeom>
          <a:solidFill>
            <a:srgbClr val="FCF2B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95" y="6734294"/>
            <a:ext cx="225028" cy="1800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93746" y="6715244"/>
            <a:ext cx="5471398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Dataset imbalance detected — apply SMOTE or class-weighting before training classifiers.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542490" y="2441138"/>
            <a:ext cx="2962156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300" b="1" dirty="0">
                <a:solidFill>
                  <a:srgbClr val="0640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Gender Distribution</a:t>
            </a:r>
            <a:endParaRPr lang="en-US" sz="2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490" y="2988945"/>
            <a:ext cx="6020276" cy="29490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03268" y="3313271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75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11883628" y="4842034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25</a:t>
            </a:r>
            <a:endParaRPr lang="en-US" sz="650" dirty="0"/>
          </a:p>
        </p:txBody>
      </p:sp>
      <p:sp>
        <p:nvSpPr>
          <p:cNvPr id="16" name="Shape 11"/>
          <p:cNvSpPr/>
          <p:nvPr/>
        </p:nvSpPr>
        <p:spPr>
          <a:xfrm>
            <a:off x="7542490" y="6552605"/>
            <a:ext cx="6337221" cy="881539"/>
          </a:xfrm>
          <a:prstGeom prst="roundRect">
            <a:avLst>
              <a:gd name="adj" fmla="val 1037"/>
            </a:avLst>
          </a:prstGeom>
          <a:solidFill>
            <a:srgbClr val="B6D6F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2513" y="6787753"/>
            <a:ext cx="225028" cy="18002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127563" y="6768703"/>
            <a:ext cx="5572125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Higher liver disease prevalence in males — target male population for early screening programs.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60809"/>
            <a:ext cx="7147560" cy="74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900" dirty="0">
                <a:solidFill>
                  <a:srgbClr val="0640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Age Profile &amp; Disease Relationship</a:t>
            </a: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758309" y="1888212"/>
            <a:ext cx="13113782" cy="454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50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Age analysis uncovers a concentration of at-risk patients in the </a:t>
            </a:r>
            <a:r>
              <a:rPr lang="en-US" sz="1450" b="1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30–60 year</a:t>
            </a:r>
            <a:r>
              <a:rPr lang="en-US" sz="1450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bracket. While diseased patients skew slightly older, age alone is insufficient — it must be combined with biomarker data for predictive accuracy.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58309" y="2745819"/>
            <a:ext cx="3663791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50" b="1" dirty="0">
                <a:solidFill>
                  <a:srgbClr val="0640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Age Distribution Across All Patients</a:t>
            </a:r>
            <a:endParaRPr lang="en-US" sz="2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333155"/>
            <a:ext cx="7004447" cy="34068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6369" y="2556272"/>
            <a:ext cx="5919668" cy="4912519"/>
          </a:xfrm>
          <a:prstGeom prst="roundRect">
            <a:avLst>
              <a:gd name="adj" fmla="val 186"/>
            </a:avLst>
          </a:prstGeom>
          <a:solidFill>
            <a:srgbClr val="064035"/>
          </a:solidFill>
          <a:ln/>
        </p:spPr>
      </p:sp>
      <p:sp>
        <p:nvSpPr>
          <p:cNvPr id="7" name="Text 4"/>
          <p:cNvSpPr/>
          <p:nvPr/>
        </p:nvSpPr>
        <p:spPr>
          <a:xfrm>
            <a:off x="8285917" y="2745819"/>
            <a:ext cx="3118009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Age vs Disease Group</a:t>
            </a:r>
            <a:endParaRPr lang="en-US" sz="2450" dirty="0"/>
          </a:p>
        </p:txBody>
      </p:sp>
      <p:sp>
        <p:nvSpPr>
          <p:cNvPr id="8" name="Shape 5"/>
          <p:cNvSpPr/>
          <p:nvPr/>
        </p:nvSpPr>
        <p:spPr>
          <a:xfrm>
            <a:off x="8285917" y="3333155"/>
            <a:ext cx="2675453" cy="2125504"/>
          </a:xfrm>
          <a:prstGeom prst="roundRect">
            <a:avLst>
              <a:gd name="adj" fmla="val 5162"/>
            </a:avLst>
          </a:prstGeom>
          <a:solidFill>
            <a:srgbClr val="064035"/>
          </a:solidFill>
          <a:ln w="22860">
            <a:solidFill>
              <a:srgbClr val="A7E5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63057" y="3333155"/>
            <a:ext cx="91440" cy="2125504"/>
          </a:xfrm>
          <a:prstGeom prst="roundRect">
            <a:avLst>
              <a:gd name="adj" fmla="val 10000"/>
            </a:avLst>
          </a:prstGeom>
          <a:solidFill>
            <a:srgbClr val="A7E563"/>
          </a:solidFill>
          <a:ln/>
        </p:spPr>
      </p:sp>
      <p:sp>
        <p:nvSpPr>
          <p:cNvPr id="10" name="Text 7"/>
          <p:cNvSpPr/>
          <p:nvPr/>
        </p:nvSpPr>
        <p:spPr>
          <a:xfrm>
            <a:off x="8566904" y="3545562"/>
            <a:ext cx="2182058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Disease Group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8566904" y="4109204"/>
            <a:ext cx="2182058" cy="113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Median age slightly higher (~47 yrs). Wider age spread, confirming age as a contributing — but not sole — factor.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11150918" y="3333155"/>
            <a:ext cx="2675573" cy="2125504"/>
          </a:xfrm>
          <a:prstGeom prst="roundRect">
            <a:avLst>
              <a:gd name="adj" fmla="val 5162"/>
            </a:avLst>
          </a:prstGeom>
          <a:solidFill>
            <a:srgbClr val="064035"/>
          </a:solidFill>
          <a:ln w="22860">
            <a:solidFill>
              <a:srgbClr val="F4B85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128058" y="3333155"/>
            <a:ext cx="91440" cy="2125504"/>
          </a:xfrm>
          <a:prstGeom prst="roundRect">
            <a:avLst>
              <a:gd name="adj" fmla="val 10000"/>
            </a:avLst>
          </a:prstGeom>
          <a:solidFill>
            <a:srgbClr val="F4B85A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1905" y="3545562"/>
            <a:ext cx="2182178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Non-Disease Group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11431905" y="4109204"/>
            <a:ext cx="2182178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Median age lower (~38 yrs). Tighter distribution around younger cohorts.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285917" y="5671899"/>
            <a:ext cx="5540573" cy="1184553"/>
          </a:xfrm>
          <a:prstGeom prst="roundRect">
            <a:avLst>
              <a:gd name="adj" fmla="val 772"/>
            </a:avLst>
          </a:prstGeom>
          <a:solidFill>
            <a:srgbClr val="B6FCB8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5464" y="5918240"/>
            <a:ext cx="236934" cy="1895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901946" y="5908834"/>
            <a:ext cx="4734997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Recommendation: Combine age with biomarkers (Bilirubin, SGPT) for superior predictive models. Launch preventive campaigns targeting the 30+ population.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03052"/>
            <a:ext cx="6915031" cy="710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650" dirty="0">
                <a:solidFill>
                  <a:srgbClr val="0640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Bilirubin Analysis — Total &amp; Direct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58309" y="1656159"/>
            <a:ext cx="13113782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Bilirubin levels are among the most diagnostically powerful features in the dataset. Both total and direct bilirubin show stark separation between disease and non-disease cohorts.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58309" y="2441138"/>
            <a:ext cx="2962156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300" b="1" dirty="0">
                <a:solidFill>
                  <a:srgbClr val="0640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Total Bilirubin Distribution</a:t>
            </a:r>
            <a:endParaRPr lang="en-US" sz="2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988945"/>
            <a:ext cx="6020276" cy="294905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309" y="6552605"/>
            <a:ext cx="6337221" cy="881539"/>
          </a:xfrm>
          <a:prstGeom prst="roundRect">
            <a:avLst>
              <a:gd name="adj" fmla="val 1037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332" y="6787753"/>
            <a:ext cx="225028" cy="1800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43382" y="6768703"/>
            <a:ext cx="5572125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Highly right-skewed — most values cluster low, but disease patients pull the tail significantly rightward.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412831" y="2270046"/>
            <a:ext cx="6596539" cy="5356503"/>
          </a:xfrm>
          <a:prstGeom prst="roundRect">
            <a:avLst>
              <a:gd name="adj" fmla="val 171"/>
            </a:avLst>
          </a:prstGeom>
          <a:solidFill>
            <a:srgbClr val="064035"/>
          </a:solidFill>
          <a:ln/>
        </p:spPr>
      </p:sp>
      <p:sp>
        <p:nvSpPr>
          <p:cNvPr id="10" name="Text 6"/>
          <p:cNvSpPr/>
          <p:nvPr/>
        </p:nvSpPr>
        <p:spPr>
          <a:xfrm>
            <a:off x="7592854" y="2441138"/>
            <a:ext cx="4043958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Direct Bilirubin: Disease vs. Non-Disease</a:t>
            </a:r>
            <a:endParaRPr lang="en-US" sz="2300" dirty="0"/>
          </a:p>
        </p:txBody>
      </p:sp>
      <p:sp>
        <p:nvSpPr>
          <p:cNvPr id="11" name="Shape 7"/>
          <p:cNvSpPr/>
          <p:nvPr/>
        </p:nvSpPr>
        <p:spPr>
          <a:xfrm>
            <a:off x="7592854" y="2988945"/>
            <a:ext cx="1572458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194" y="3025497"/>
            <a:ext cx="91440" cy="914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68114" y="3011805"/>
            <a:ext cx="1343858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Median Direct Bilirubin (mg/dL)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9226272" y="2988945"/>
            <a:ext cx="1231702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9612" y="3025497"/>
            <a:ext cx="91440" cy="914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401532" y="3011805"/>
            <a:ext cx="100310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75th Percentile (mg/dL)</a:t>
            </a:r>
            <a:endParaRPr lang="en-US" sz="7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2854" y="3229689"/>
            <a:ext cx="5924669" cy="270343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63524" y="4832556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1.4</a:t>
            </a:r>
            <a:endParaRPr lang="en-US" sz="650" dirty="0"/>
          </a:p>
        </p:txBody>
      </p:sp>
      <p:sp>
        <p:nvSpPr>
          <p:cNvPr id="19" name="Text 12"/>
          <p:cNvSpPr/>
          <p:nvPr/>
        </p:nvSpPr>
        <p:spPr>
          <a:xfrm>
            <a:off x="9505997" y="3511248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3.8</a:t>
            </a:r>
            <a:endParaRPr lang="en-US" sz="650" dirty="0"/>
          </a:p>
        </p:txBody>
      </p:sp>
      <p:sp>
        <p:nvSpPr>
          <p:cNvPr id="20" name="Text 13"/>
          <p:cNvSpPr/>
          <p:nvPr/>
        </p:nvSpPr>
        <p:spPr>
          <a:xfrm>
            <a:off x="11428644" y="5417867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0.3</a:t>
            </a:r>
            <a:endParaRPr lang="en-US" sz="650" dirty="0"/>
          </a:p>
        </p:txBody>
      </p:sp>
      <p:sp>
        <p:nvSpPr>
          <p:cNvPr id="21" name="Text 14"/>
          <p:cNvSpPr/>
          <p:nvPr/>
        </p:nvSpPr>
        <p:spPr>
          <a:xfrm>
            <a:off x="12371117" y="5272993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0.6</a:t>
            </a:r>
            <a:endParaRPr lang="en-US" sz="650" dirty="0"/>
          </a:p>
        </p:txBody>
      </p:sp>
      <p:sp>
        <p:nvSpPr>
          <p:cNvPr id="22" name="Shape 15"/>
          <p:cNvSpPr/>
          <p:nvPr/>
        </p:nvSpPr>
        <p:spPr>
          <a:xfrm>
            <a:off x="7592854" y="6499146"/>
            <a:ext cx="6236494" cy="889159"/>
          </a:xfrm>
          <a:prstGeom prst="roundRect">
            <a:avLst>
              <a:gd name="adj" fmla="val 1028"/>
            </a:avLst>
          </a:prstGeom>
          <a:solidFill>
            <a:srgbClr val="FFB3B4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876" y="6734294"/>
            <a:ext cx="225028" cy="18002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77927" y="6715244"/>
            <a:ext cx="5471398" cy="429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🚨</a:t>
            </a:r>
            <a:r>
              <a:rPr lang="en-US" sz="1400" b="1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Critical Insight:</a:t>
            </a: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Direct bilirubin is a strong discriminating indicator. Prioritize it as a primary feature in all screening models.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65321"/>
            <a:ext cx="11308199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400" dirty="0">
                <a:solidFill>
                  <a:srgbClr val="0640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Enzyme Biomarkers — SGPT, SGOT &amp; Alkaline Phosphatase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58309" y="1645801"/>
            <a:ext cx="13113782" cy="38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Liver enzymes tell a coordinated story: SGPT and SGOT rise in tandem under hepatic stress, while Alkaline Phosphatase displays extreme variability demanding careful preprocessing.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58309" y="2360771"/>
            <a:ext cx="3422809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b="1" dirty="0">
                <a:solidFill>
                  <a:srgbClr val="0640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SGPT vs SGOT — Correlation Scatter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309" y="2870121"/>
            <a:ext cx="679013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49" y="2906673"/>
            <a:ext cx="91440" cy="91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3569" y="2892981"/>
            <a:ext cx="450413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57575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SGPT (U/L)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498283" y="2870121"/>
            <a:ext cx="692348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623" y="2906673"/>
            <a:ext cx="91440" cy="91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73543" y="2892981"/>
            <a:ext cx="463748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57575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SGOT (U/L)</a:t>
            </a:r>
            <a:endParaRPr lang="en-US" sz="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3110865"/>
            <a:ext cx="6322576" cy="282606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58309" y="6583323"/>
            <a:ext cx="7025164" cy="808315"/>
          </a:xfrm>
          <a:prstGeom prst="roundRect">
            <a:avLst>
              <a:gd name="adj" fmla="val 1131"/>
            </a:avLst>
          </a:prstGeom>
          <a:solidFill>
            <a:srgbClr val="B6D6FC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926" y="6807279"/>
            <a:ext cx="213241" cy="17061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12783" y="6779419"/>
            <a:ext cx="6300073" cy="38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Strong positive correlation — enzyme levels rise together during liver damage. Use the SGPT/SGOT ratio as a combined diagnostic feature.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8084463" y="2207300"/>
            <a:ext cx="5918002" cy="5356979"/>
          </a:xfrm>
          <a:prstGeom prst="roundRect">
            <a:avLst>
              <a:gd name="adj" fmla="val 171"/>
            </a:avLst>
          </a:prstGeom>
          <a:solidFill>
            <a:srgbClr val="064035"/>
          </a:solidFill>
          <a:ln/>
        </p:spPr>
      </p:sp>
      <p:sp>
        <p:nvSpPr>
          <p:cNvPr id="16" name="Text 10"/>
          <p:cNvSpPr/>
          <p:nvPr/>
        </p:nvSpPr>
        <p:spPr>
          <a:xfrm>
            <a:off x="8255079" y="2360771"/>
            <a:ext cx="3033832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Alkaline Phosphatase (Alkphos)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8255079" y="2870121"/>
            <a:ext cx="5576768" cy="1265992"/>
          </a:xfrm>
          <a:prstGeom prst="roundRect">
            <a:avLst>
              <a:gd name="adj" fmla="val 8667"/>
            </a:avLst>
          </a:prstGeom>
          <a:solidFill>
            <a:srgbClr val="064035"/>
          </a:solidFill>
          <a:ln w="22860">
            <a:solidFill>
              <a:srgbClr val="A7E563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232219" y="2870121"/>
            <a:ext cx="91440" cy="1265992"/>
          </a:xfrm>
          <a:prstGeom prst="roundRect">
            <a:avLst>
              <a:gd name="adj" fmla="val 10000"/>
            </a:avLst>
          </a:prstGeom>
          <a:solidFill>
            <a:srgbClr val="A7E563"/>
          </a:solidFill>
          <a:ln/>
        </p:spPr>
      </p:sp>
      <p:sp>
        <p:nvSpPr>
          <p:cNvPr id="19" name="Text 13"/>
          <p:cNvSpPr/>
          <p:nvPr/>
        </p:nvSpPr>
        <p:spPr>
          <a:xfrm>
            <a:off x="8517136" y="3063597"/>
            <a:ext cx="2806184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Distribution Shape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8517136" y="3553778"/>
            <a:ext cx="5121235" cy="38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Wide spread with extreme right-tail outliers. Values range from ~60 to 2000+ U/L across the patient cohort.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255079" y="4289584"/>
            <a:ext cx="5576768" cy="1265992"/>
          </a:xfrm>
          <a:prstGeom prst="roundRect">
            <a:avLst>
              <a:gd name="adj" fmla="val 8667"/>
            </a:avLst>
          </a:prstGeom>
          <a:solidFill>
            <a:srgbClr val="064035"/>
          </a:solidFill>
          <a:ln w="22860">
            <a:solidFill>
              <a:srgbClr val="F4B85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232219" y="4289584"/>
            <a:ext cx="91440" cy="1265992"/>
          </a:xfrm>
          <a:prstGeom prst="roundRect">
            <a:avLst>
              <a:gd name="adj" fmla="val 10000"/>
            </a:avLst>
          </a:prstGeom>
          <a:solidFill>
            <a:srgbClr val="F4B85A"/>
          </a:solidFill>
          <a:ln/>
        </p:spPr>
      </p:sp>
      <p:sp>
        <p:nvSpPr>
          <p:cNvPr id="23" name="Text 17"/>
          <p:cNvSpPr/>
          <p:nvPr/>
        </p:nvSpPr>
        <p:spPr>
          <a:xfrm>
            <a:off x="8517136" y="4483060"/>
            <a:ext cx="2806184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Clinical Insight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8517136" y="4973241"/>
            <a:ext cx="5121235" cy="38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High variability reflects diverse disease stages. Outliers likely correspond to advanced biliary obstruction or bone disease.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8255079" y="5709047"/>
            <a:ext cx="5576768" cy="1265992"/>
          </a:xfrm>
          <a:prstGeom prst="roundRect">
            <a:avLst>
              <a:gd name="adj" fmla="val 8667"/>
            </a:avLst>
          </a:prstGeom>
          <a:solidFill>
            <a:srgbClr val="064035"/>
          </a:solidFill>
          <a:ln w="22860">
            <a:solidFill>
              <a:srgbClr val="D8B5E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32219" y="5709047"/>
            <a:ext cx="91440" cy="1265992"/>
          </a:xfrm>
          <a:prstGeom prst="roundRect">
            <a:avLst>
              <a:gd name="adj" fmla="val 10000"/>
            </a:avLst>
          </a:prstGeom>
          <a:solidFill>
            <a:srgbClr val="D8B5EE"/>
          </a:solidFill>
          <a:ln/>
        </p:spPr>
      </p:sp>
      <p:sp>
        <p:nvSpPr>
          <p:cNvPr id="27" name="Text 21"/>
          <p:cNvSpPr/>
          <p:nvPr/>
        </p:nvSpPr>
        <p:spPr>
          <a:xfrm>
            <a:off x="8517136" y="5902523"/>
            <a:ext cx="2806184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Modeling Action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8517136" y="6392704"/>
            <a:ext cx="5121235" cy="38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Log-transform Alkphos before modeling. Apply IQR-based outlier capping to prevent model distortion.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27102"/>
            <a:ext cx="9546788" cy="710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650" dirty="0">
                <a:solidFill>
                  <a:srgbClr val="0640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Albumin &amp; Protein — Inverse Disease Indicators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58309" y="1680210"/>
            <a:ext cx="1311378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Unlike enzyme biomarkers that rise with disease, </a:t>
            </a:r>
            <a:r>
              <a:rPr lang="en-US" sz="1400" b="1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Albumin levels fall</a:t>
            </a:r>
            <a:r>
              <a:rPr lang="en-US" sz="1400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as liver function deteriorates — making it a powerful inverse predictor in classification models.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8650" y="2083356"/>
            <a:ext cx="6596539" cy="5519023"/>
          </a:xfrm>
          <a:prstGeom prst="roundRect">
            <a:avLst>
              <a:gd name="adj" fmla="val 166"/>
            </a:avLst>
          </a:prstGeom>
          <a:solidFill>
            <a:srgbClr val="064035"/>
          </a:solidFill>
          <a:ln/>
        </p:spPr>
      </p:sp>
      <p:sp>
        <p:nvSpPr>
          <p:cNvPr id="5" name="Text 3"/>
          <p:cNvSpPr/>
          <p:nvPr/>
        </p:nvSpPr>
        <p:spPr>
          <a:xfrm>
            <a:off x="808673" y="2254448"/>
            <a:ext cx="3370421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Albumin: Disease vs. Non-Disease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08673" y="2802255"/>
            <a:ext cx="1208008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12" y="2838807"/>
            <a:ext cx="91440" cy="91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3933" y="2825115"/>
            <a:ext cx="979408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Median Albumin (g/dL)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2077641" y="2802255"/>
            <a:ext cx="1146215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981" y="2838807"/>
            <a:ext cx="91440" cy="91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52901" y="2825115"/>
            <a:ext cx="917615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25th Percentile (g/dL)</a:t>
            </a:r>
            <a:endParaRPr lang="en-US" sz="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3" y="3042999"/>
            <a:ext cx="5924669" cy="27034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79342" y="3875103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2.8</a:t>
            </a:r>
            <a:endParaRPr lang="en-US" sz="650" dirty="0"/>
          </a:p>
        </p:txBody>
      </p:sp>
      <p:sp>
        <p:nvSpPr>
          <p:cNvPr id="14" name="Text 9"/>
          <p:cNvSpPr/>
          <p:nvPr/>
        </p:nvSpPr>
        <p:spPr>
          <a:xfrm>
            <a:off x="2721816" y="4205430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2.2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4644462" y="3269504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3.9</a:t>
            </a:r>
            <a:endParaRPr lang="en-US" sz="650" dirty="0"/>
          </a:p>
        </p:txBody>
      </p:sp>
      <p:sp>
        <p:nvSpPr>
          <p:cNvPr id="16" name="Text 11"/>
          <p:cNvSpPr/>
          <p:nvPr/>
        </p:nvSpPr>
        <p:spPr>
          <a:xfrm>
            <a:off x="5586936" y="3544776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3.4</a:t>
            </a:r>
            <a:endParaRPr lang="en-US" sz="650" dirty="0"/>
          </a:p>
        </p:txBody>
      </p:sp>
      <p:sp>
        <p:nvSpPr>
          <p:cNvPr id="17" name="Shape 12"/>
          <p:cNvSpPr/>
          <p:nvPr/>
        </p:nvSpPr>
        <p:spPr>
          <a:xfrm>
            <a:off x="808673" y="6312456"/>
            <a:ext cx="6236494" cy="881539"/>
          </a:xfrm>
          <a:prstGeom prst="roundRect">
            <a:avLst>
              <a:gd name="adj" fmla="val 1037"/>
            </a:avLst>
          </a:prstGeom>
          <a:solidFill>
            <a:srgbClr val="FFB3B4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695" y="6547604"/>
            <a:ext cx="225028" cy="18002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93746" y="6528554"/>
            <a:ext cx="5471398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Lower albumin strongly signals poor liver synthetic function — use as an inverse feature (higher = healthier) in predictive models.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542490" y="2254448"/>
            <a:ext cx="3099078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300" b="1" dirty="0">
                <a:solidFill>
                  <a:srgbClr val="0640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Biomarker Direction Summary</a:t>
            </a:r>
            <a:endParaRPr lang="en-US" sz="2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09999" y="2802195"/>
            <a:ext cx="270034" cy="27003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127683" y="2802255"/>
            <a:ext cx="2962156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300" dirty="0">
                <a:solidFill>
                  <a:srgbClr val="57575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Bilirubin (Total &amp; Direct) ↑</a:t>
            </a:r>
            <a:endParaRPr lang="en-US" sz="2300" dirty="0"/>
          </a:p>
        </p:txBody>
      </p:sp>
      <p:sp>
        <p:nvSpPr>
          <p:cNvPr id="23" name="Text 16"/>
          <p:cNvSpPr/>
          <p:nvPr/>
        </p:nvSpPr>
        <p:spPr>
          <a:xfrm>
            <a:off x="8127683" y="3328749"/>
            <a:ext cx="5752028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Elevated in disease — use as a </a:t>
            </a:r>
            <a:r>
              <a:rPr lang="en-US" sz="1400" b="1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positive predictor</a:t>
            </a:r>
            <a:r>
              <a:rPr lang="en-US" sz="1400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 Direct bilirubin shows strongest separation.</a:t>
            </a:r>
            <a:endParaRPr lang="en-US" sz="14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09999" y="4092357"/>
            <a:ext cx="270034" cy="27003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127683" y="4092416"/>
            <a:ext cx="2962156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300" dirty="0">
                <a:solidFill>
                  <a:srgbClr val="57575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SGPT / SGOT ↑</a:t>
            </a:r>
            <a:endParaRPr lang="en-US" sz="2300" dirty="0"/>
          </a:p>
        </p:txBody>
      </p:sp>
      <p:sp>
        <p:nvSpPr>
          <p:cNvPr id="26" name="Text 18"/>
          <p:cNvSpPr/>
          <p:nvPr/>
        </p:nvSpPr>
        <p:spPr>
          <a:xfrm>
            <a:off x="8127683" y="4618911"/>
            <a:ext cx="5752028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Rise together in hepatocellular damage — use </a:t>
            </a:r>
            <a:r>
              <a:rPr lang="en-US" sz="1400" b="1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combined ratio</a:t>
            </a:r>
            <a:r>
              <a:rPr lang="en-US" sz="1400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as a feature for added discriminatory power.</a:t>
            </a:r>
            <a:endParaRPr lang="en-US" sz="14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09999" y="5382518"/>
            <a:ext cx="270034" cy="27003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127683" y="5382578"/>
            <a:ext cx="2962156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300" dirty="0">
                <a:solidFill>
                  <a:srgbClr val="57575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Alkaline Phosphatase ↑</a:t>
            </a:r>
            <a:endParaRPr lang="en-US" sz="2300" dirty="0"/>
          </a:p>
        </p:txBody>
      </p:sp>
      <p:sp>
        <p:nvSpPr>
          <p:cNvPr id="29" name="Text 20"/>
          <p:cNvSpPr/>
          <p:nvPr/>
        </p:nvSpPr>
        <p:spPr>
          <a:xfrm>
            <a:off x="8127683" y="5909072"/>
            <a:ext cx="575202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High variance; useful after </a:t>
            </a:r>
            <a:r>
              <a:rPr lang="en-US" sz="1400" b="1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log-normalization</a:t>
            </a:r>
            <a:r>
              <a:rPr lang="en-US" sz="1400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and outlier treatment.</a:t>
            </a:r>
            <a:endParaRPr lang="en-US" sz="14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09999" y="6461939"/>
            <a:ext cx="270034" cy="27003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127683" y="6461998"/>
            <a:ext cx="2962156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300" dirty="0">
                <a:solidFill>
                  <a:srgbClr val="57575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Albumin ↓</a:t>
            </a:r>
            <a:endParaRPr lang="en-US" sz="2300" dirty="0"/>
          </a:p>
        </p:txBody>
      </p:sp>
      <p:sp>
        <p:nvSpPr>
          <p:cNvPr id="32" name="Text 22"/>
          <p:cNvSpPr/>
          <p:nvPr/>
        </p:nvSpPr>
        <p:spPr>
          <a:xfrm>
            <a:off x="8127683" y="6988493"/>
            <a:ext cx="5752028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Depleted in disease — a reliable </a:t>
            </a:r>
            <a:r>
              <a:rPr lang="en-US" sz="1400" b="1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inverse indicator</a:t>
            </a:r>
            <a:r>
              <a:rPr lang="en-US" sz="1400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of liver synthetic capacity.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36151"/>
            <a:ext cx="6288881" cy="523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400" dirty="0">
                <a:solidFill>
                  <a:srgbClr val="0640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Correlation Matrix &amp; Feature Relationships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58309" y="1345644"/>
            <a:ext cx="13113782" cy="13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correlation heatmap exposes multicollinearity between enzyme markers — a critical consideration before building machine learning models. Feature selection or dimensionality reduction is strongly advised.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1661636"/>
            <a:ext cx="9179600" cy="42431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309" y="6934795"/>
            <a:ext cx="6395085" cy="554236"/>
          </a:xfrm>
          <a:prstGeom prst="roundRect">
            <a:avLst>
              <a:gd name="adj" fmla="val 1650"/>
            </a:avLst>
          </a:prstGeom>
          <a:solidFill>
            <a:srgbClr val="FFB3B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945" y="7100530"/>
            <a:ext cx="165854" cy="1326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9434" y="7060763"/>
            <a:ext cx="5831324" cy="27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Multicollinearity Alert:</a:t>
            </a:r>
            <a:r>
              <a:rPr lang="en-US" sz="1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SGPT ↔ SGOT correlation of ~0.92 and Total ↔ Direct Bilirubin of ~0.87 indicate redundant features. Remove or consolidate before modeling.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484626" y="6934795"/>
            <a:ext cx="6395085" cy="546616"/>
          </a:xfrm>
          <a:prstGeom prst="roundRect">
            <a:avLst>
              <a:gd name="adj" fmla="val 1673"/>
            </a:avLst>
          </a:prstGeom>
          <a:solidFill>
            <a:srgbClr val="B6FCB8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7262" y="7100530"/>
            <a:ext cx="165854" cy="1326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15751" y="7060763"/>
            <a:ext cx="5831324" cy="27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Recommendation:</a:t>
            </a:r>
            <a:r>
              <a:rPr lang="en-US" sz="1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Apply PCA or Variance Inflation Factor (VIF) analysis. Retain Direct Bilirubin over Total, and use SGPT/SGOT ratio rather than both raw values.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65321"/>
            <a:ext cx="924151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400" dirty="0">
                <a:solidFill>
                  <a:srgbClr val="0640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Disease Prevalence &amp; Biomarker Impact Ranking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58309" y="1645801"/>
            <a:ext cx="13113782" cy="38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dirty="0">
                <a:solidFill>
                  <a:srgbClr val="5757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Two complementary views: the overall disease share confirming dataset imbalance, and a biomarker funnel ranking features by their contribution volume — guiding feature prioritization for ML models.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35437" y="2207300"/>
            <a:ext cx="5918002" cy="5356979"/>
          </a:xfrm>
          <a:prstGeom prst="roundRect">
            <a:avLst>
              <a:gd name="adj" fmla="val 171"/>
            </a:avLst>
          </a:prstGeom>
          <a:solidFill>
            <a:srgbClr val="064035"/>
          </a:solidFill>
          <a:ln/>
        </p:spPr>
      </p:sp>
      <p:sp>
        <p:nvSpPr>
          <p:cNvPr id="5" name="Text 3"/>
          <p:cNvSpPr/>
          <p:nvPr/>
        </p:nvSpPr>
        <p:spPr>
          <a:xfrm>
            <a:off x="806053" y="2360771"/>
            <a:ext cx="2968109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Disease Share — Patient Cohort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53" y="2946321"/>
            <a:ext cx="5019080" cy="24370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37873" y="3918823"/>
            <a:ext cx="1070372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213" y="3955375"/>
            <a:ext cx="91440" cy="91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39803" y="3941683"/>
            <a:ext cx="84177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Liver Disease·71%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4703326" y="3941683"/>
            <a:ext cx="27824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·71%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4739878" y="3941683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3937873" y="4144327"/>
            <a:ext cx="1218962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1213" y="4180880"/>
            <a:ext cx="91440" cy="914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39803" y="4167188"/>
            <a:ext cx="99036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No Liver Disease·29%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4851916" y="4167188"/>
            <a:ext cx="27824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·29%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4888468" y="4167188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806053" y="5853351"/>
            <a:ext cx="5576768" cy="1002744"/>
          </a:xfrm>
          <a:prstGeom prst="roundRect">
            <a:avLst>
              <a:gd name="adj" fmla="val 912"/>
            </a:avLst>
          </a:prstGeom>
          <a:solidFill>
            <a:srgbClr val="FCF2B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670" y="6077307"/>
            <a:ext cx="213241" cy="17061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60527" y="6049447"/>
            <a:ext cx="4851678" cy="583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71% disease prevalence — build classification models with stratified sampling and precision-recall metrics, not accuracy alone.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854428" y="2360771"/>
            <a:ext cx="2806184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b="1" dirty="0">
                <a:solidFill>
                  <a:srgbClr val="0640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Biomarker Impact Funnel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6854428" y="2885361"/>
            <a:ext cx="688181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575757"/>
                </a:solidFill>
                <a:latin typeface="-apple-system, BlinkMacSystemFont, Segoe UI, Roboto, Helvetica Neue, Arial, sans-serif Black" pitchFamily="34" charset="0"/>
                <a:ea typeface="-apple-system, BlinkMacSystemFont, Segoe UI, Roboto, Helvetica Neue, Arial, sans-serif Black" pitchFamily="34" charset="-122"/>
                <a:cs typeface="-apple-system, BlinkMacSystemFont, Segoe UI, Roboto, Helvetica Neue, Arial, sans-serif Black" pitchFamily="34" charset="-120"/>
              </a:rPr>
              <a:t>34.38%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854428" y="3098721"/>
            <a:ext cx="897850" cy="121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57575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Total conversion rate </a:t>
            </a:r>
            <a:endParaRPr lang="en-US" sz="7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4428" y="3296483"/>
            <a:ext cx="6322576" cy="264330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53320" y="3644348"/>
            <a:ext cx="18966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320</a:t>
            </a:r>
            <a:endParaRPr lang="en-US" sz="650" dirty="0"/>
          </a:p>
        </p:txBody>
      </p:sp>
      <p:sp>
        <p:nvSpPr>
          <p:cNvPr id="25" name="Text 18"/>
          <p:cNvSpPr/>
          <p:nvPr/>
        </p:nvSpPr>
        <p:spPr>
          <a:xfrm>
            <a:off x="8357890" y="3997176"/>
            <a:ext cx="18966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260</a:t>
            </a:r>
            <a:endParaRPr lang="en-US" sz="650" dirty="0"/>
          </a:p>
        </p:txBody>
      </p:sp>
      <p:sp>
        <p:nvSpPr>
          <p:cNvPr id="26" name="Text 19"/>
          <p:cNvSpPr/>
          <p:nvPr/>
        </p:nvSpPr>
        <p:spPr>
          <a:xfrm>
            <a:off x="9362402" y="4114785"/>
            <a:ext cx="18966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240</a:t>
            </a:r>
            <a:endParaRPr lang="en-US" sz="650" dirty="0"/>
          </a:p>
        </p:txBody>
      </p:sp>
      <p:sp>
        <p:nvSpPr>
          <p:cNvPr id="27" name="Text 20"/>
          <p:cNvSpPr/>
          <p:nvPr/>
        </p:nvSpPr>
        <p:spPr>
          <a:xfrm>
            <a:off x="10366949" y="4467242"/>
            <a:ext cx="18966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180</a:t>
            </a:r>
            <a:endParaRPr lang="en-US" sz="650" dirty="0"/>
          </a:p>
        </p:txBody>
      </p:sp>
      <p:sp>
        <p:nvSpPr>
          <p:cNvPr id="28" name="Text 21"/>
          <p:cNvSpPr/>
          <p:nvPr/>
        </p:nvSpPr>
        <p:spPr>
          <a:xfrm>
            <a:off x="11371496" y="4702373"/>
            <a:ext cx="18966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140</a:t>
            </a:r>
            <a:endParaRPr lang="en-US" sz="650" dirty="0"/>
          </a:p>
        </p:txBody>
      </p:sp>
      <p:sp>
        <p:nvSpPr>
          <p:cNvPr id="29" name="Text 22"/>
          <p:cNvSpPr/>
          <p:nvPr/>
        </p:nvSpPr>
        <p:spPr>
          <a:xfrm>
            <a:off x="12376043" y="4878722"/>
            <a:ext cx="18966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110</a:t>
            </a:r>
            <a:endParaRPr lang="en-US" sz="650" dirty="0"/>
          </a:p>
        </p:txBody>
      </p:sp>
      <p:sp>
        <p:nvSpPr>
          <p:cNvPr id="30" name="Shape 23"/>
          <p:cNvSpPr/>
          <p:nvPr/>
        </p:nvSpPr>
        <p:spPr>
          <a:xfrm>
            <a:off x="6854428" y="6583323"/>
            <a:ext cx="7025164" cy="808315"/>
          </a:xfrm>
          <a:prstGeom prst="roundRect">
            <a:avLst>
              <a:gd name="adj" fmla="val 1131"/>
            </a:avLst>
          </a:prstGeom>
          <a:solidFill>
            <a:srgbClr val="B6D6FC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5045" y="6807279"/>
            <a:ext cx="213241" cy="17061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08902" y="6779419"/>
            <a:ext cx="6300073" cy="38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Different biomarkers have varying signal strength. Rank features using this funnel as a starting point for recursive feature elimination.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690920"/>
            <a:ext cx="1677472" cy="221933"/>
          </a:xfrm>
          <a:prstGeom prst="roundRect">
            <a:avLst>
              <a:gd name="adj" fmla="val 4120"/>
            </a:avLst>
          </a:prstGeom>
          <a:solidFill>
            <a:srgbClr val="A7E563"/>
          </a:solidFill>
          <a:ln/>
        </p:spPr>
      </p:sp>
      <p:sp>
        <p:nvSpPr>
          <p:cNvPr id="3" name="Text 1"/>
          <p:cNvSpPr/>
          <p:nvPr/>
        </p:nvSpPr>
        <p:spPr>
          <a:xfrm>
            <a:off x="849273" y="736402"/>
            <a:ext cx="1495544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FINAL RECOMMENDATIONS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309" y="961311"/>
            <a:ext cx="6884670" cy="826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Action Plan &amp; </a:t>
            </a:r>
            <a:r>
              <a:rPr lang="en-US" sz="5400" b="1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Next Steps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58309" y="1969294"/>
            <a:ext cx="13113782" cy="204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50" dirty="0">
                <a:solidFill>
                  <a:srgbClr val="06403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Translate biomarker insights into a production-ready early detection system for hospital deployment.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58309" y="2310408"/>
            <a:ext cx="4290298" cy="1181576"/>
          </a:xfrm>
          <a:prstGeom prst="roundRect">
            <a:avLst>
              <a:gd name="adj" fmla="val 774"/>
            </a:avLst>
          </a:prstGeom>
          <a:solidFill>
            <a:srgbClr val="064035"/>
          </a:solidFill>
          <a:ln w="7620">
            <a:solidFill>
              <a:srgbClr val="1F59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7496" y="2469594"/>
            <a:ext cx="2494359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🧠</a:t>
            </a:r>
            <a:r>
              <a:rPr lang="en-US" sz="1950" b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Build Predictive Model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7496" y="2841665"/>
            <a:ext cx="3971925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Train Logistic Regression and Random Forest classifiers. Evaluate with AUC-ROC, F1-score, and precision-recall curves — not raw accuracy.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69932" y="2310408"/>
            <a:ext cx="4290417" cy="1181576"/>
          </a:xfrm>
          <a:prstGeom prst="roundRect">
            <a:avLst>
              <a:gd name="adj" fmla="val 774"/>
            </a:avLst>
          </a:prstGeom>
          <a:solidFill>
            <a:srgbClr val="064035"/>
          </a:solidFill>
          <a:ln w="7620">
            <a:solidFill>
              <a:srgbClr val="1F59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29118" y="2469594"/>
            <a:ext cx="2494359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⚖️</a:t>
            </a:r>
            <a:r>
              <a:rPr lang="en-US" sz="1950" b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Handle Class Imbalance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329118" y="2841665"/>
            <a:ext cx="3972044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Apply SMOTE oversampling or class-weight adjustment. Use stratified k-fold cross-validation to ensure balanced evaluation.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581674" y="2310408"/>
            <a:ext cx="4290417" cy="1181576"/>
          </a:xfrm>
          <a:prstGeom prst="roundRect">
            <a:avLst>
              <a:gd name="adj" fmla="val 774"/>
            </a:avLst>
          </a:prstGeom>
          <a:solidFill>
            <a:srgbClr val="064035"/>
          </a:solidFill>
          <a:ln w="7620">
            <a:solidFill>
              <a:srgbClr val="1F59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40860" y="2469594"/>
            <a:ext cx="2494359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🔧</a:t>
            </a:r>
            <a:r>
              <a:rPr lang="en-US" sz="1950" b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Preprocess Biomarkers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740860" y="2841665"/>
            <a:ext cx="3972044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Log-transform skewed features (Bilirubin, Alkphos). Cap outliers via IQR. Normalize all continuous variables before training.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58309" y="3628430"/>
            <a:ext cx="1639133" cy="838914"/>
          </a:xfrm>
          <a:prstGeom prst="roundRect">
            <a:avLst>
              <a:gd name="adj" fmla="val 1090"/>
            </a:avLst>
          </a:prstGeom>
          <a:solidFill>
            <a:srgbClr val="064035"/>
          </a:solidFill>
          <a:ln w="7620">
            <a:solidFill>
              <a:srgbClr val="1F594E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1255" y="3941207"/>
            <a:ext cx="213241" cy="21324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549009" y="3779996"/>
            <a:ext cx="2494359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Prioritize Key Biomarkers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2549009" y="4152067"/>
            <a:ext cx="7174468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Focus on Direct Bilirubin, SGPT/SGOT ratio, and Albumin as the top predictive features for initial model versions.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473166" y="4463534"/>
            <a:ext cx="11323201" cy="7620"/>
          </a:xfrm>
          <a:prstGeom prst="roundRect">
            <a:avLst>
              <a:gd name="adj" fmla="val 120000"/>
            </a:avLst>
          </a:prstGeom>
          <a:solidFill>
            <a:srgbClr val="064035"/>
          </a:solidFill>
          <a:ln/>
        </p:spPr>
      </p:sp>
      <p:sp>
        <p:nvSpPr>
          <p:cNvPr id="20" name="Shape 17"/>
          <p:cNvSpPr/>
          <p:nvPr/>
        </p:nvSpPr>
        <p:spPr>
          <a:xfrm>
            <a:off x="758309" y="4543068"/>
            <a:ext cx="3278386" cy="838914"/>
          </a:xfrm>
          <a:prstGeom prst="roundRect">
            <a:avLst>
              <a:gd name="adj" fmla="val 1090"/>
            </a:avLst>
          </a:prstGeom>
          <a:solidFill>
            <a:srgbClr val="A7E563"/>
          </a:solidFill>
          <a:ln w="7620">
            <a:solidFill>
              <a:srgbClr val="8DCB49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0882" y="4855845"/>
            <a:ext cx="213241" cy="21324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188262" y="4694634"/>
            <a:ext cx="2681168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Feature Selection &amp; Engineering</a:t>
            </a:r>
            <a:endParaRPr lang="en-US" sz="1950" dirty="0"/>
          </a:p>
        </p:txBody>
      </p:sp>
      <p:sp>
        <p:nvSpPr>
          <p:cNvPr id="23" name="Text 19"/>
          <p:cNvSpPr/>
          <p:nvPr/>
        </p:nvSpPr>
        <p:spPr>
          <a:xfrm>
            <a:off x="4188262" y="5066705"/>
            <a:ext cx="8605838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Remove multicollinear features (SGPT+SGOT raw pair). Apply VIF or PCA. Engineer the SGPT/SGOT ratio as a new composite feature.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112419" y="5378172"/>
            <a:ext cx="9683948" cy="7620"/>
          </a:xfrm>
          <a:prstGeom prst="roundRect">
            <a:avLst>
              <a:gd name="adj" fmla="val 120000"/>
            </a:avLst>
          </a:prstGeom>
          <a:solidFill>
            <a:srgbClr val="A7E563"/>
          </a:solidFill>
          <a:ln/>
        </p:spPr>
      </p:sp>
      <p:sp>
        <p:nvSpPr>
          <p:cNvPr id="25" name="Shape 21"/>
          <p:cNvSpPr/>
          <p:nvPr/>
        </p:nvSpPr>
        <p:spPr>
          <a:xfrm>
            <a:off x="758309" y="5457706"/>
            <a:ext cx="4917638" cy="1002625"/>
          </a:xfrm>
          <a:prstGeom prst="roundRect">
            <a:avLst>
              <a:gd name="adj" fmla="val 912"/>
            </a:avLst>
          </a:prstGeom>
          <a:solidFill>
            <a:srgbClr val="F4B85A"/>
          </a:solidFill>
          <a:ln w="7620">
            <a:solidFill>
              <a:srgbClr val="DA9E40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10508" y="5852398"/>
            <a:ext cx="213241" cy="21324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827514" y="5609273"/>
            <a:ext cx="2553772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Deploy Early Detection System</a:t>
            </a:r>
            <a:endParaRPr lang="en-US" sz="1950" dirty="0"/>
          </a:p>
        </p:txBody>
      </p:sp>
      <p:sp>
        <p:nvSpPr>
          <p:cNvPr id="28" name="Text 23"/>
          <p:cNvSpPr/>
          <p:nvPr/>
        </p:nvSpPr>
        <p:spPr>
          <a:xfrm>
            <a:off x="5827514" y="5981343"/>
            <a:ext cx="7893010" cy="327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Integrate the final model into hospital lab workflows. Flag high-risk patients automatically based on incoming blood panel results.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751671" y="6456521"/>
            <a:ext cx="8044696" cy="7620"/>
          </a:xfrm>
          <a:prstGeom prst="roundRect">
            <a:avLst>
              <a:gd name="adj" fmla="val 120000"/>
            </a:avLst>
          </a:prstGeom>
          <a:solidFill>
            <a:srgbClr val="F4B85A"/>
          </a:solidFill>
          <a:ln/>
        </p:spPr>
      </p:sp>
      <p:sp>
        <p:nvSpPr>
          <p:cNvPr id="30" name="Shape 25"/>
          <p:cNvSpPr/>
          <p:nvPr/>
        </p:nvSpPr>
        <p:spPr>
          <a:xfrm>
            <a:off x="758309" y="6536055"/>
            <a:ext cx="6556891" cy="1002625"/>
          </a:xfrm>
          <a:prstGeom prst="roundRect">
            <a:avLst>
              <a:gd name="adj" fmla="val 912"/>
            </a:avLst>
          </a:prstGeom>
          <a:solidFill>
            <a:srgbClr val="B1BEEB"/>
          </a:solidFill>
          <a:ln w="7620">
            <a:solidFill>
              <a:srgbClr val="97A4D1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30134" y="6930747"/>
            <a:ext cx="213241" cy="213241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466767" y="6687622"/>
            <a:ext cx="2710577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Monitor &amp; Retrain Continuously</a:t>
            </a:r>
            <a:endParaRPr lang="en-US" sz="1950" dirty="0"/>
          </a:p>
        </p:txBody>
      </p:sp>
      <p:sp>
        <p:nvSpPr>
          <p:cNvPr id="33" name="Text 27"/>
          <p:cNvSpPr/>
          <p:nvPr/>
        </p:nvSpPr>
        <p:spPr>
          <a:xfrm>
            <a:off x="7466767" y="7059692"/>
            <a:ext cx="6253758" cy="327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Track model drift as patient demographics evolve. Schedule periodic retraining with updated hospital data to maintain accuracy.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1156</Words>
  <Application>Microsoft Office PowerPoint</Application>
  <PresentationFormat>Custom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Instrument Serif</vt:lpstr>
      <vt:lpstr>-apple-system, BlinkMacSystemFont, Segoe UI, Roboto, Helvetica Neue, Arial, sans-serif Black</vt:lpstr>
      <vt:lpstr>Inter Tight</vt:lpstr>
      <vt:lpstr>-apple-system, BlinkMacSystemFont, Segoe UI, Roboto, Helvetica Neue, Arial, sans-serif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Dhiman Chakraborty</cp:lastModifiedBy>
  <cp:revision>1</cp:revision>
  <dcterms:created xsi:type="dcterms:W3CDTF">2026-04-23T14:50:24Z</dcterms:created>
  <dcterms:modified xsi:type="dcterms:W3CDTF">2026-04-23T14:52:36Z</dcterms:modified>
</cp:coreProperties>
</file>